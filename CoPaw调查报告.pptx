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72" r:id="rId10"/>
    <p:sldId id="266" r:id="rId11"/>
    <p:sldId id="273" r:id="rId12"/>
    <p:sldId id="267" r:id="rId13"/>
    <p:sldId id="268" r:id="rId14"/>
    <p:sldId id="269" r:id="rId15"/>
    <p:sldId id="274" r:id="rId16"/>
    <p:sldId id="275" r:id="rId17"/>
  </p:sldIdLst>
  <p:sldSz cx="9144000" cy="6858000" type="screen4x3"/>
  <p:notesSz cx="6858000" cy="9144000"/>
  <p:defaultTextStyle>
    <a:defPPr>
      <a:defRPr lang="zh-CN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4F958-D79B-900E-F376-57447279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662E1C-B380-56CF-7669-8098D67D4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1758FA-F082-86AD-24C5-33D29441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A3CE3-01CD-CE69-E3F2-260BC45D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DE67C-AAAC-C636-397A-DD4C26E6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60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8F3C2-ED0D-E9EB-718A-21B34558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0FDE7-3ABC-0569-8C5F-DC41A896B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44073-BEAB-88F9-FB99-88570B0F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AC71E-42AC-BA46-E2D8-7F2413DA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AB1B0-FDD0-ABEF-51F8-FFD4F8FE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00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F255E-BC07-E116-2CD6-674B78F0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447105-4CEA-AB8A-A42B-C5FE0C8C2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8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C77C8-DDDD-BD07-E76D-D29F1484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F0CDE-4D05-988A-F3E4-410B74F8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CE79E-281B-D469-AC05-65D44759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03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9F1E1-D6A4-6929-58EC-4BD35942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5BBC2-6FFE-10F6-EC94-C50087BDA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59DAD-F860-69C0-FA91-64EC97B96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46C42-93A5-A9A2-17FB-A50E5529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200FDB-138C-AB42-3F7F-6601D91E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FCEE93-F21F-9014-4C77-734E00CB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16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F8AE-C16A-1743-B600-4D2CF036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0EE54-5B6C-05DD-AD44-F8EA60E48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681162"/>
            <a:ext cx="3868340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D56EFB-1AA4-6841-7EBC-43959F852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ACD853-79F0-498E-011B-D038F1929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2"/>
            <a:ext cx="3887391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814FBF-2FE8-8E48-5689-D843ACC54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F34CEF-BFE2-1498-CEDF-436ED629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A6715B-F887-6520-368A-45D31D26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3AEBB6-A49E-AEED-068F-79941523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01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55313-E710-F24C-4C14-4410946A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26BE0A-7DE0-D8C3-AA7A-313E9545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C9E6F1-E985-FDEB-0036-3986D3E3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D356EB-0DEF-3A95-09D0-505FACCB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19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3477B2-E8DF-3FE3-198C-CE5E5218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53C7C1-2118-72BB-9455-DA57D5E2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7638EB-D2CA-EBBC-C0F4-1049E006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96577-87F3-324D-244D-F0ED67B2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28ACD-F9D2-CAF8-455B-DC2865295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65ACC1-08B5-0640-3D9A-DF673F3F3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0C789F-A1A3-07E6-8740-43C202F9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7E3D7F-A7C3-BB5B-FFD1-595FD902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62FD27-9DA2-0F20-4C73-8CF1C82C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12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D9F61-EE81-7990-6471-28299237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A55FE9-D5EF-FF67-2013-16BA8E05B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5B8F3C-5578-0B3F-8775-9BF58C414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CAD1A6-5CBA-A493-6A5D-01B81647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67985-0FB2-CE49-5897-B53C11C8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33CB2F-0311-C786-7CB9-45F4BB9A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82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9BF39-2E8A-87DE-E3CF-E4200EDD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F3C1DC-0109-3C69-2947-E54B02576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05E0D-0B3C-5087-AA46-6448022F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9D54F-15F4-6147-033F-D10A5D75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5C89E-CB8F-6BD5-5587-A146C821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6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F15CB6-8B90-B809-0185-031CAF513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2F1E3D-9865-254B-DA75-1F289F19B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62314-D955-8CF4-5902-D9EB5AEB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95F12-F5B9-A4A9-0A4E-47BFF263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1C4EF-66E2-45CA-424A-7151F724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87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E3170B-DE42-8FE3-82BA-8244157D3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D66524-9EA8-CB53-B147-EEBCE2BB6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C7003-9991-0202-25D1-0EA378165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39D8A-F31F-4D5F-9AB7-4486449B4C6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67B79-F462-57C7-CB1C-7A2F0AC1C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0B2D0-1E04-FC82-A2AF-C60DACFB4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E3B32-52A7-4947-8DA8-A21C1C29B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93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qwenpaw.agentscope.io/docs/console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8CC094-065D-A4AA-644F-869F691266AC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1F9B44-FC9C-0564-1D18-CBC469260EEA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45ED87-318F-6346-DE07-3EB72CF7F80B}"/>
              </a:ext>
            </a:extLst>
          </p:cNvPr>
          <p:cNvSpPr txBox="1"/>
          <p:nvPr/>
        </p:nvSpPr>
        <p:spPr>
          <a:xfrm>
            <a:off x="736600" y="1651000"/>
            <a:ext cx="711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400" b="1" dirty="0" err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34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调查报告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09F069-8D1D-52D8-2522-731A8AAF5A1E}"/>
              </a:ext>
            </a:extLst>
          </p:cNvPr>
          <p:cNvSpPr txBox="1"/>
          <p:nvPr/>
        </p:nvSpPr>
        <p:spPr>
          <a:xfrm>
            <a:off x="787400" y="25146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8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（已改名为</a:t>
            </a:r>
            <a:r>
              <a:rPr lang="en-US" altLang="zh-CN" sz="1800" b="1" dirty="0" err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QwenPaw</a:t>
            </a:r>
            <a:r>
              <a:rPr lang="zh-CN" altLang="en-US" sz="18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DD88BA-A458-BA5A-4EE1-487781B968AA}"/>
              </a:ext>
            </a:extLst>
          </p:cNvPr>
          <p:cNvSpPr txBox="1"/>
          <p:nvPr/>
        </p:nvSpPr>
        <p:spPr>
          <a:xfrm>
            <a:off x="812800" y="3238500"/>
            <a:ext cx="6604000" cy="16962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一、</a:t>
            </a:r>
            <a:r>
              <a:rPr lang="en-US" altLang="zh-CN" sz="15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部署</a:t>
            </a:r>
            <a:endParaRPr lang="en-US" altLang="zh-CN" sz="15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二、</a:t>
            </a:r>
            <a:r>
              <a:rPr lang="en-US" altLang="zh-CN" sz="15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能做什么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三、</a:t>
            </a:r>
            <a:r>
              <a:rPr lang="en-US" altLang="zh-CN" sz="15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安全系统</a:t>
            </a:r>
            <a:endParaRPr lang="en-US" altLang="zh-CN" sz="15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四、缺陷和不足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五、潜在风险</a:t>
            </a:r>
          </a:p>
        </p:txBody>
      </p:sp>
    </p:spTree>
    <p:extLst>
      <p:ext uri="{BB962C8B-B14F-4D97-AF65-F5344CB8AC3E}">
        <p14:creationId xmlns:p14="http://schemas.microsoft.com/office/powerpoint/2010/main" val="198984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44C6F279-D864-37A2-D1DD-FFBD53ED3DEB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9877A2A-0C9C-8D4F-70E9-754634FAD3E3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2/16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2F19388-E159-D0F2-B58C-C6A128C779D9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Deployment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D6CD50-C552-317E-4377-25758B97F593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一、</a:t>
            </a:r>
            <a:r>
              <a:rPr lang="en-US" altLang="zh-CN" sz="2800" b="1" dirty="0" err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部署：两种方式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8E7B52E-21DE-5BC2-62C5-508AD4CC638C}"/>
              </a:ext>
            </a:extLst>
          </p:cNvPr>
          <p:cNvSpPr/>
          <p:nvPr/>
        </p:nvSpPr>
        <p:spPr>
          <a:xfrm>
            <a:off x="620776" y="2921000"/>
            <a:ext cx="3619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6438637-CF41-DA26-5745-A6DC9E86B602}"/>
              </a:ext>
            </a:extLst>
          </p:cNvPr>
          <p:cNvSpPr/>
          <p:nvPr/>
        </p:nvSpPr>
        <p:spPr>
          <a:xfrm>
            <a:off x="620776" y="2921000"/>
            <a:ext cx="36195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A9956D8-D7BD-B2E5-1862-6919F421FD3D}"/>
              </a:ext>
            </a:extLst>
          </p:cNvPr>
          <p:cNvSpPr txBox="1"/>
          <p:nvPr/>
        </p:nvSpPr>
        <p:spPr>
          <a:xfrm>
            <a:off x="823976" y="3200400"/>
            <a:ext cx="3213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 </a:t>
            </a:r>
            <a:r>
              <a:rPr lang="en-US" altLang="zh-CN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 </a:t>
            </a:r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安装包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C32C7F-269F-6555-F828-B2D486C5A96B}"/>
              </a:ext>
            </a:extLst>
          </p:cNvPr>
          <p:cNvSpPr txBox="1"/>
          <p:nvPr/>
        </p:nvSpPr>
        <p:spPr>
          <a:xfrm>
            <a:off x="823976" y="3657600"/>
            <a:ext cx="321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适合快速试用和本机体验；安装简单，不依赖命令行和 </a:t>
            </a:r>
            <a:r>
              <a:rPr lang="en-US" altLang="zh-CN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PyPI/GitHub </a:t>
            </a:r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网络稳定性。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17ABE8E-63A1-EB28-179E-23EB5B62691C}"/>
              </a:ext>
            </a:extLst>
          </p:cNvPr>
          <p:cNvSpPr/>
          <p:nvPr/>
        </p:nvSpPr>
        <p:spPr>
          <a:xfrm>
            <a:off x="4964176" y="2921000"/>
            <a:ext cx="3619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0281C5-BA25-AE72-8D24-2BCEC2E875C5}"/>
              </a:ext>
            </a:extLst>
          </p:cNvPr>
          <p:cNvSpPr/>
          <p:nvPr/>
        </p:nvSpPr>
        <p:spPr>
          <a:xfrm>
            <a:off x="4964176" y="2921000"/>
            <a:ext cx="36195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1020052-82C5-21D3-A3B8-B26044E764B3}"/>
              </a:ext>
            </a:extLst>
          </p:cNvPr>
          <p:cNvSpPr txBox="1"/>
          <p:nvPr/>
        </p:nvSpPr>
        <p:spPr>
          <a:xfrm>
            <a:off x="5167376" y="3200400"/>
            <a:ext cx="3213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部署到阿里云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DDA6339-FC7A-C187-348F-E2729807B6DA}"/>
              </a:ext>
            </a:extLst>
          </p:cNvPr>
          <p:cNvSpPr txBox="1"/>
          <p:nvPr/>
        </p:nvSpPr>
        <p:spPr>
          <a:xfrm>
            <a:off x="5167376" y="3657600"/>
            <a:ext cx="3213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适合正式使用；主机与云服务器之间的数据、指令链路更容易集中监控。</a:t>
            </a:r>
          </a:p>
        </p:txBody>
      </p:sp>
    </p:spTree>
    <p:extLst>
      <p:ext uri="{BB962C8B-B14F-4D97-AF65-F5344CB8AC3E}">
        <p14:creationId xmlns:p14="http://schemas.microsoft.com/office/powerpoint/2010/main" val="367580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A9EB00B-0986-96AF-25D2-A47C9E641393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B3C139-3BA7-8970-A6F7-7B5D2B30661A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3/16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DCC007-CF6E-2EE6-7B54-77C65358D0FD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Desktop APP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1E504F-2D0D-A967-81EE-8CD18588F0AE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 </a:t>
            </a:r>
            <a:r>
              <a:rPr lang="en-US" altLang="zh-CN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：快速开始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CC118D-CCC8-9983-662E-68D59469EAB2}"/>
              </a:ext>
            </a:extLst>
          </p:cNvPr>
          <p:cNvSpPr txBox="1"/>
          <p:nvPr/>
        </p:nvSpPr>
        <p:spPr>
          <a:xfrm>
            <a:off x="508000" y="5147770"/>
            <a:ext cx="3683000" cy="8976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不依赖 </a:t>
            </a: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GitHub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500" dirty="0" err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PyPI</a:t>
            </a: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等网络稳定性</a:t>
            </a:r>
          </a:p>
          <a:p>
            <a:pPr>
              <a:spcAft>
                <a:spcPts val="800"/>
              </a:spcAft>
            </a:pP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减少证书、代理、</a:t>
            </a: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502 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等安装错误</a:t>
            </a:r>
          </a:p>
          <a:p>
            <a:pPr>
              <a:spcAft>
                <a:spcPts val="800"/>
              </a:spcAft>
            </a:pPr>
            <a:r>
              <a:rPr lang="en-US" altLang="zh-CN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5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图形化界面，上手成本低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BC20916-4307-81D5-E337-D51F30EA5FE3}"/>
              </a:ext>
            </a:extLst>
          </p:cNvPr>
          <p:cNvSpPr/>
          <p:nvPr/>
        </p:nvSpPr>
        <p:spPr>
          <a:xfrm>
            <a:off x="453136" y="1411540"/>
            <a:ext cx="6048248" cy="33592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E7F653-34C5-C282-5B02-6E1886E5F108}"/>
              </a:ext>
            </a:extLst>
          </p:cNvPr>
          <p:cNvSpPr txBox="1"/>
          <p:nvPr/>
        </p:nvSpPr>
        <p:spPr>
          <a:xfrm>
            <a:off x="2980436" y="4468361"/>
            <a:ext cx="307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适合本地体验和轻量验证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3D4901-FA15-6B60-14E2-A34C676F8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5" y="1560835"/>
            <a:ext cx="527431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5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4FE5341-9445-D8D4-F819-B9B7CCDB0106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9B0769-33E5-DC4A-2848-3728970E5000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4/16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16DF2F-822A-7BA8-8D7B-FB9D9F268BDE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Alibaba Cloud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370F20-EF0F-467C-1CEB-D5FF819DB71A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为什么更推荐部署到阿里云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CDA9B4-BC3F-5E60-54B0-E59DE58B17F0}"/>
              </a:ext>
            </a:extLst>
          </p:cNvPr>
          <p:cNvSpPr txBox="1"/>
          <p:nvPr/>
        </p:nvSpPr>
        <p:spPr>
          <a:xfrm>
            <a:off x="685800" y="1549400"/>
            <a:ext cx="742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主机只负责向云服务器发送数据；云端统一接收、处理并返回数据。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244638B-1933-6FA4-E23E-0FB401E35741}"/>
              </a:ext>
            </a:extLst>
          </p:cNvPr>
          <p:cNvSpPr/>
          <p:nvPr/>
        </p:nvSpPr>
        <p:spPr>
          <a:xfrm>
            <a:off x="889000" y="1915145"/>
            <a:ext cx="1905000" cy="838200"/>
          </a:xfrm>
          <a:prstGeom prst="roundRect">
            <a:avLst/>
          </a:prstGeom>
          <a:solidFill>
            <a:srgbClr val="E3F5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86B4DB-95FE-CCB3-D7FE-4AF83C305F9E}"/>
              </a:ext>
            </a:extLst>
          </p:cNvPr>
          <p:cNvSpPr txBox="1"/>
          <p:nvPr/>
        </p:nvSpPr>
        <p:spPr>
          <a:xfrm>
            <a:off x="1016000" y="2143745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本地主机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BB3DAFF-2C3E-CB27-201F-57D7F7D7995E}"/>
              </a:ext>
            </a:extLst>
          </p:cNvPr>
          <p:cNvSpPr/>
          <p:nvPr/>
        </p:nvSpPr>
        <p:spPr>
          <a:xfrm>
            <a:off x="3619500" y="1915145"/>
            <a:ext cx="2032000" cy="838200"/>
          </a:xfrm>
          <a:prstGeom prst="round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E08D2C-F8BE-3F11-A086-8B86C6F43EAC}"/>
              </a:ext>
            </a:extLst>
          </p:cNvPr>
          <p:cNvSpPr txBox="1"/>
          <p:nvPr/>
        </p:nvSpPr>
        <p:spPr>
          <a:xfrm>
            <a:off x="3746500" y="2143745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阿里云服务器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52DD09-C575-1E5E-3198-A4FC41AA4FF2}"/>
              </a:ext>
            </a:extLst>
          </p:cNvPr>
          <p:cNvSpPr/>
          <p:nvPr/>
        </p:nvSpPr>
        <p:spPr>
          <a:xfrm>
            <a:off x="6477000" y="1915145"/>
            <a:ext cx="1905000" cy="838200"/>
          </a:xfrm>
          <a:prstGeom prst="roundRect">
            <a:avLst/>
          </a:prstGeom>
          <a:solidFill>
            <a:srgbClr val="E3F5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55F896-8CE0-3412-9C6D-0FC9A711ED6A}"/>
              </a:ext>
            </a:extLst>
          </p:cNvPr>
          <p:cNvSpPr txBox="1"/>
          <p:nvPr/>
        </p:nvSpPr>
        <p:spPr>
          <a:xfrm>
            <a:off x="6604000" y="2143745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可监控指令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2CD7FAF-3B5D-2CA1-13B6-868D6DE6A8DD}"/>
              </a:ext>
            </a:extLst>
          </p:cNvPr>
          <p:cNvCxnSpPr/>
          <p:nvPr/>
        </p:nvCxnSpPr>
        <p:spPr>
          <a:xfrm>
            <a:off x="2794000" y="2334245"/>
            <a:ext cx="825500" cy="0"/>
          </a:xfrm>
          <a:prstGeom prst="straightConnector1">
            <a:avLst/>
          </a:prstGeom>
          <a:ln w="25400">
            <a:solidFill>
              <a:srgbClr val="F299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5CB4D42-BA57-4975-9670-69A33D8332B8}"/>
              </a:ext>
            </a:extLst>
          </p:cNvPr>
          <p:cNvCxnSpPr/>
          <p:nvPr/>
        </p:nvCxnSpPr>
        <p:spPr>
          <a:xfrm>
            <a:off x="5651500" y="2334245"/>
            <a:ext cx="825500" cy="0"/>
          </a:xfrm>
          <a:prstGeom prst="straightConnector1">
            <a:avLst/>
          </a:prstGeom>
          <a:ln w="25400">
            <a:solidFill>
              <a:srgbClr val="F299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FCDF124-B5A3-41FA-5C28-8D5E351836ED}"/>
              </a:ext>
            </a:extLst>
          </p:cNvPr>
          <p:cNvSpPr/>
          <p:nvPr/>
        </p:nvSpPr>
        <p:spPr>
          <a:xfrm>
            <a:off x="889000" y="2968213"/>
            <a:ext cx="330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9DD4DA-B1B3-7D53-19C6-B87F1DECB171}"/>
              </a:ext>
            </a:extLst>
          </p:cNvPr>
          <p:cNvSpPr/>
          <p:nvPr/>
        </p:nvSpPr>
        <p:spPr>
          <a:xfrm>
            <a:off x="889000" y="2968213"/>
            <a:ext cx="3302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A35831-9E65-082D-9468-8E5EA182D3D9}"/>
              </a:ext>
            </a:extLst>
          </p:cNvPr>
          <p:cNvSpPr txBox="1"/>
          <p:nvPr/>
        </p:nvSpPr>
        <p:spPr>
          <a:xfrm>
            <a:off x="1092200" y="3247613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隐私性更好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060C51-0284-2FF5-C2EC-B9618188B16C}"/>
              </a:ext>
            </a:extLst>
          </p:cNvPr>
          <p:cNvSpPr txBox="1"/>
          <p:nvPr/>
        </p:nvSpPr>
        <p:spPr>
          <a:xfrm>
            <a:off x="1092200" y="3704813"/>
            <a:ext cx="289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发送的数据、接收的指令都经过云端统一链路，便于审计与留痕。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0B78081-B2FC-DA81-76EE-0A73F5836F45}"/>
              </a:ext>
            </a:extLst>
          </p:cNvPr>
          <p:cNvSpPr/>
          <p:nvPr/>
        </p:nvSpPr>
        <p:spPr>
          <a:xfrm>
            <a:off x="4953000" y="2968213"/>
            <a:ext cx="330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3F11A7-675E-626B-B80A-415A1696A768}"/>
              </a:ext>
            </a:extLst>
          </p:cNvPr>
          <p:cNvSpPr/>
          <p:nvPr/>
        </p:nvSpPr>
        <p:spPr>
          <a:xfrm>
            <a:off x="4953000" y="2968213"/>
            <a:ext cx="3302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9494E8-7BFF-7400-ED90-8F21D2F3613F}"/>
              </a:ext>
            </a:extLst>
          </p:cNvPr>
          <p:cNvSpPr txBox="1"/>
          <p:nvPr/>
        </p:nvSpPr>
        <p:spPr>
          <a:xfrm>
            <a:off x="5156200" y="3247613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安全性更好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F369DB9-A8F8-E3F6-E408-70B6E7E329B9}"/>
              </a:ext>
            </a:extLst>
          </p:cNvPr>
          <p:cNvSpPr txBox="1"/>
          <p:nvPr/>
        </p:nvSpPr>
        <p:spPr>
          <a:xfrm>
            <a:off x="5156200" y="3704813"/>
            <a:ext cx="289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可以配置专有网络、交换机子网和访问控制，把安全边界做成可管理的逻辑隔离。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52F76B-5B71-8B7F-8DD3-1A62BD2E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46" y="4326081"/>
            <a:ext cx="3373165" cy="21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6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70F0817-A13C-63A4-72BC-AB0D4A234C1D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76E74D-22FA-47CE-357D-C3BAB830DB43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5/16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B90DCC-C2B5-F086-E50C-F75BE5F3461E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Deployment Choice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5ADD76-A57F-A737-1208-34A79AB8BEDF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部署选择建议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452979B-AD68-E98B-B1A8-DF397DD4DE79}"/>
              </a:ext>
            </a:extLst>
          </p:cNvPr>
          <p:cNvSpPr/>
          <p:nvPr/>
        </p:nvSpPr>
        <p:spPr>
          <a:xfrm>
            <a:off x="736600" y="1905000"/>
            <a:ext cx="3175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1112BD-2DB1-7FD1-D8FB-994AEDB9052C}"/>
              </a:ext>
            </a:extLst>
          </p:cNvPr>
          <p:cNvSpPr/>
          <p:nvPr/>
        </p:nvSpPr>
        <p:spPr>
          <a:xfrm>
            <a:off x="736600" y="1905000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F71D04-DAB4-A6E1-425D-42CD68968835}"/>
              </a:ext>
            </a:extLst>
          </p:cNvPr>
          <p:cNvSpPr txBox="1"/>
          <p:nvPr/>
        </p:nvSpPr>
        <p:spPr>
          <a:xfrm>
            <a:off x="939800" y="2184400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试用阶段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323483-C292-B5DB-5978-7EAAF3AE6920}"/>
              </a:ext>
            </a:extLst>
          </p:cNvPr>
          <p:cNvSpPr txBox="1"/>
          <p:nvPr/>
        </p:nvSpPr>
        <p:spPr>
          <a:xfrm>
            <a:off x="939800" y="2641600"/>
            <a:ext cx="2768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选择桌面 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：最快完成安装、验证能力。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6BE0CE1-0642-FC16-23F0-8837DAD97797}"/>
              </a:ext>
            </a:extLst>
          </p:cNvPr>
          <p:cNvSpPr/>
          <p:nvPr/>
        </p:nvSpPr>
        <p:spPr>
          <a:xfrm>
            <a:off x="5207000" y="1904999"/>
            <a:ext cx="3175000" cy="24157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DA394D-AFB1-7996-8E1C-8365AE6D7143}"/>
              </a:ext>
            </a:extLst>
          </p:cNvPr>
          <p:cNvSpPr/>
          <p:nvPr/>
        </p:nvSpPr>
        <p:spPr>
          <a:xfrm>
            <a:off x="5207000" y="1905000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3601DD-7A87-C616-CCF5-C407ACA367A3}"/>
              </a:ext>
            </a:extLst>
          </p:cNvPr>
          <p:cNvSpPr txBox="1"/>
          <p:nvPr/>
        </p:nvSpPr>
        <p:spPr>
          <a:xfrm>
            <a:off x="5410200" y="2184400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正式使用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3EB78D-82A7-FC3C-B629-C07860BF6215}"/>
              </a:ext>
            </a:extLst>
          </p:cNvPr>
          <p:cNvSpPr txBox="1"/>
          <p:nvPr/>
        </p:nvSpPr>
        <p:spPr>
          <a:xfrm>
            <a:off x="5410200" y="2621121"/>
            <a:ext cx="2768600" cy="14260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选择阿里云：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数据上行路径可记录</a:t>
            </a:r>
          </a:p>
          <a:p>
            <a:pPr>
              <a:spcAft>
                <a:spcPts val="800"/>
              </a:spcAft>
            </a:pP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指令回传过程可监控</a:t>
            </a:r>
          </a:p>
          <a:p>
            <a:pPr>
              <a:spcAft>
                <a:spcPts val="800"/>
              </a:spcAft>
            </a:pP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便于设置访问控制与告警</a:t>
            </a:r>
          </a:p>
          <a:p>
            <a:pPr>
              <a:spcAft>
                <a:spcPts val="800"/>
              </a:spcAft>
            </a:pP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适合企业级治理要求</a:t>
            </a: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集中监控数据流和指令流，降低不可见风险。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D0CF01-D2E2-2082-D3B4-3E5CE3A37AFD}"/>
              </a:ext>
            </a:extLst>
          </p:cNvPr>
          <p:cNvSpPr txBox="1"/>
          <p:nvPr/>
        </p:nvSpPr>
        <p:spPr>
          <a:xfrm>
            <a:off x="1778000" y="5284996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为了可审计、可监控、可隔离，优先使用云端部署。</a:t>
            </a:r>
          </a:p>
        </p:txBody>
      </p:sp>
    </p:spTree>
    <p:extLst>
      <p:ext uri="{BB962C8B-B14F-4D97-AF65-F5344CB8AC3E}">
        <p14:creationId xmlns:p14="http://schemas.microsoft.com/office/powerpoint/2010/main" val="237155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865373-BE54-0E7B-36CD-427F11D7217A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C519A4-8B3B-30AA-09E4-F5B125644984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7/16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964DC9-B7D4-B4F7-06A5-CD2A1EC4137A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Deployment Summary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8C8B1F-1F89-DB40-3BF8-224D4B74AB76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部署章节结论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EC134B-39BA-A497-1A1B-7C3CE8237286}"/>
              </a:ext>
            </a:extLst>
          </p:cNvPr>
          <p:cNvSpPr/>
          <p:nvPr/>
        </p:nvSpPr>
        <p:spPr>
          <a:xfrm>
            <a:off x="889000" y="1905000"/>
            <a:ext cx="3175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B583D-2000-4077-B548-44FF0D10636B}"/>
              </a:ext>
            </a:extLst>
          </p:cNvPr>
          <p:cNvSpPr/>
          <p:nvPr/>
        </p:nvSpPr>
        <p:spPr>
          <a:xfrm>
            <a:off x="889000" y="1905000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649AF9-0C6E-AA9D-23A8-E2E55C4153BD}"/>
              </a:ext>
            </a:extLst>
          </p:cNvPr>
          <p:cNvSpPr txBox="1"/>
          <p:nvPr/>
        </p:nvSpPr>
        <p:spPr>
          <a:xfrm>
            <a:off x="1092200" y="2184400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 </a:t>
            </a:r>
            <a:r>
              <a:rPr lang="en-US" altLang="zh-CN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endParaRPr lang="zh-CN" altLang="en-US" sz="1600" b="1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EF26D7-0908-8BFE-1453-4F8F46C073BA}"/>
              </a:ext>
            </a:extLst>
          </p:cNvPr>
          <p:cNvSpPr txBox="1"/>
          <p:nvPr/>
        </p:nvSpPr>
        <p:spPr>
          <a:xfrm>
            <a:off x="1092200" y="26416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适合快速试用：安装简单、上手快、适合本机体验。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0ACCAE-7089-01F0-366B-70E9F23EC647}"/>
              </a:ext>
            </a:extLst>
          </p:cNvPr>
          <p:cNvSpPr/>
          <p:nvPr/>
        </p:nvSpPr>
        <p:spPr>
          <a:xfrm>
            <a:off x="5080000" y="1905000"/>
            <a:ext cx="3175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877F3-DD3D-CD0A-62F2-0D5C7B506C4F}"/>
              </a:ext>
            </a:extLst>
          </p:cNvPr>
          <p:cNvSpPr/>
          <p:nvPr/>
        </p:nvSpPr>
        <p:spPr>
          <a:xfrm>
            <a:off x="5080000" y="1905000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E17AD2-4751-6C47-01FD-B8755C4E2974}"/>
              </a:ext>
            </a:extLst>
          </p:cNvPr>
          <p:cNvSpPr txBox="1"/>
          <p:nvPr/>
        </p:nvSpPr>
        <p:spPr>
          <a:xfrm>
            <a:off x="5283200" y="2184400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阿里云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DA997E-B25B-5053-022C-C0F075FCFD4E}"/>
              </a:ext>
            </a:extLst>
          </p:cNvPr>
          <p:cNvSpPr txBox="1"/>
          <p:nvPr/>
        </p:nvSpPr>
        <p:spPr>
          <a:xfrm>
            <a:off x="5283200" y="2641600"/>
            <a:ext cx="2768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适合正式使用：数据与指令链路可监控，隐私性、安全性更好。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EC5AFB-C506-D329-5B3A-8EB9DBB7AD10}"/>
              </a:ext>
            </a:extLst>
          </p:cNvPr>
          <p:cNvSpPr txBox="1"/>
          <p:nvPr/>
        </p:nvSpPr>
        <p:spPr>
          <a:xfrm>
            <a:off x="965200" y="43180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建议路径：先用桌面 </a:t>
            </a:r>
            <a:r>
              <a:rPr lang="en-US" altLang="zh-CN" sz="1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 </a:t>
            </a:r>
            <a:r>
              <a:rPr lang="zh-CN" altLang="en-US" sz="1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验证能力，再迁移到阿里云承载正式场景。</a:t>
            </a:r>
          </a:p>
        </p:txBody>
      </p:sp>
    </p:spTree>
    <p:extLst>
      <p:ext uri="{BB962C8B-B14F-4D97-AF65-F5344CB8AC3E}">
        <p14:creationId xmlns:p14="http://schemas.microsoft.com/office/powerpoint/2010/main" val="57968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00766CA-2B6E-C224-E5E8-FC044694809F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1E23A9-1D9A-7FF8-DFF5-54FC72FF835B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8/16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C4B49-6106-3CB7-8DA5-E55AC7E0638F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Capabilities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61F941-56BE-A41B-E23D-B61FF669582A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二、</a:t>
            </a:r>
            <a:r>
              <a:rPr lang="en-US" altLang="zh-CN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能做什么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7AD03FA-4277-21AA-CEA3-28C6148C1D49}"/>
              </a:ext>
            </a:extLst>
          </p:cNvPr>
          <p:cNvSpPr/>
          <p:nvPr/>
        </p:nvSpPr>
        <p:spPr>
          <a:xfrm>
            <a:off x="508000" y="1847850"/>
            <a:ext cx="2984500" cy="17457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72481C-4265-8D71-E89B-07D10A439B2E}"/>
              </a:ext>
            </a:extLst>
          </p:cNvPr>
          <p:cNvSpPr/>
          <p:nvPr/>
        </p:nvSpPr>
        <p:spPr>
          <a:xfrm>
            <a:off x="508000" y="1847850"/>
            <a:ext cx="29845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B8D042-D783-9434-EFC2-3F9F3E957553}"/>
              </a:ext>
            </a:extLst>
          </p:cNvPr>
          <p:cNvSpPr txBox="1"/>
          <p:nvPr/>
        </p:nvSpPr>
        <p:spPr>
          <a:xfrm>
            <a:off x="711200" y="2127250"/>
            <a:ext cx="257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基本能力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5D71F7-4A24-B115-783E-169B28CD0308}"/>
              </a:ext>
            </a:extLst>
          </p:cNvPr>
          <p:cNvSpPr txBox="1"/>
          <p:nvPr/>
        </p:nvSpPr>
        <p:spPr>
          <a:xfrm>
            <a:off x="711200" y="2488743"/>
            <a:ext cx="25781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搜资料、写摘要、做表格；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处理 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/ Word / Excel / PPT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设置定时任务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49C31E0-4A41-3FA9-31BF-2ABCEE6EC858}"/>
              </a:ext>
            </a:extLst>
          </p:cNvPr>
          <p:cNvSpPr/>
          <p:nvPr/>
        </p:nvSpPr>
        <p:spPr>
          <a:xfrm>
            <a:off x="5034280" y="1847851"/>
            <a:ext cx="2984500" cy="17457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45762D-564E-18AA-C07E-D342EA6A13D7}"/>
              </a:ext>
            </a:extLst>
          </p:cNvPr>
          <p:cNvSpPr/>
          <p:nvPr/>
        </p:nvSpPr>
        <p:spPr>
          <a:xfrm>
            <a:off x="5034280" y="1847852"/>
            <a:ext cx="29845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44D534-DD0A-80B2-CE29-6A772674052A}"/>
              </a:ext>
            </a:extLst>
          </p:cNvPr>
          <p:cNvSpPr txBox="1"/>
          <p:nvPr/>
        </p:nvSpPr>
        <p:spPr>
          <a:xfrm>
            <a:off x="5237480" y="2127252"/>
            <a:ext cx="257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特色：多智能体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B5CBD2-B4F8-2767-4C9A-87443BE454AC}"/>
              </a:ext>
            </a:extLst>
          </p:cNvPr>
          <p:cNvSpPr txBox="1"/>
          <p:nvPr/>
        </p:nvSpPr>
        <p:spPr>
          <a:xfrm>
            <a:off x="5237480" y="2742441"/>
            <a:ext cx="25781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按用途、平台、语言或环境拆分智能体，提升任务边界清晰度。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2952399-FEA4-9C7D-AFCA-D890BA73D3FA}"/>
              </a:ext>
            </a:extLst>
          </p:cNvPr>
          <p:cNvSpPr/>
          <p:nvPr/>
        </p:nvSpPr>
        <p:spPr>
          <a:xfrm>
            <a:off x="571500" y="4285335"/>
            <a:ext cx="2921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1B0D7E-DDFF-55A6-6C58-DFCA7DA46CAF}"/>
              </a:ext>
            </a:extLst>
          </p:cNvPr>
          <p:cNvSpPr/>
          <p:nvPr/>
        </p:nvSpPr>
        <p:spPr>
          <a:xfrm>
            <a:off x="571500" y="4285335"/>
            <a:ext cx="2921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B92381-7041-7F2F-7935-9A19C8C87F6A}"/>
              </a:ext>
            </a:extLst>
          </p:cNvPr>
          <p:cNvSpPr txBox="1"/>
          <p:nvPr/>
        </p:nvSpPr>
        <p:spPr>
          <a:xfrm>
            <a:off x="774700" y="4564735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为什么拆分成多智能体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46659C-26F3-4585-CADA-85BE577EEC00}"/>
              </a:ext>
            </a:extLst>
          </p:cNvPr>
          <p:cNvSpPr txBox="1"/>
          <p:nvPr/>
        </p:nvSpPr>
        <p:spPr>
          <a:xfrm>
            <a:off x="774700" y="5021935"/>
            <a:ext cx="251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让聊天、代码、文档、财务等任务由不同智能体承担。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4A29B9-DDBF-79D7-62BE-58D046C05FE1}"/>
              </a:ext>
            </a:extLst>
          </p:cNvPr>
          <p:cNvSpPr/>
          <p:nvPr/>
        </p:nvSpPr>
        <p:spPr>
          <a:xfrm>
            <a:off x="5097780" y="4285335"/>
            <a:ext cx="2921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84C8F6-C71B-89B3-F6FF-8B8504BE6B87}"/>
              </a:ext>
            </a:extLst>
          </p:cNvPr>
          <p:cNvSpPr/>
          <p:nvPr/>
        </p:nvSpPr>
        <p:spPr>
          <a:xfrm>
            <a:off x="5097780" y="4285335"/>
            <a:ext cx="2921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17BAA0-7C04-6136-26E2-1E91D3A1377C}"/>
              </a:ext>
            </a:extLst>
          </p:cNvPr>
          <p:cNvSpPr txBox="1"/>
          <p:nvPr/>
        </p:nvSpPr>
        <p:spPr>
          <a:xfrm>
            <a:off x="5300980" y="4564735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多智能体如何协作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CB17AB-B93A-11EB-4D95-F9FD528AD96C}"/>
              </a:ext>
            </a:extLst>
          </p:cNvPr>
          <p:cNvSpPr txBox="1"/>
          <p:nvPr/>
        </p:nvSpPr>
        <p:spPr>
          <a:xfrm>
            <a:off x="5300980" y="5021935"/>
            <a:ext cx="251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当前智能体可调用专业助手，复审结果或获取第二意见。</a:t>
            </a:r>
          </a:p>
        </p:txBody>
      </p:sp>
    </p:spTree>
    <p:extLst>
      <p:ext uri="{BB962C8B-B14F-4D97-AF65-F5344CB8AC3E}">
        <p14:creationId xmlns:p14="http://schemas.microsoft.com/office/powerpoint/2010/main" val="73365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002BF72-C50C-7C72-9244-D3902F30AA4F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3F8FC0-7FE4-919F-944B-A00B1302ACD0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10/16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898555-7F0C-3799-CAC3-40A32FA27189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Collaboration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CA0D01-A6B5-063A-3FFF-1FB5354F7C78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典型协作场景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644D4F0-5C7A-A004-8063-1759FEC83A4D}"/>
              </a:ext>
            </a:extLst>
          </p:cNvPr>
          <p:cNvSpPr/>
          <p:nvPr/>
        </p:nvSpPr>
        <p:spPr>
          <a:xfrm>
            <a:off x="508000" y="3112318"/>
            <a:ext cx="3175000" cy="24272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D266F2-EBB7-F403-0B07-DA67B5CFA7C6}"/>
              </a:ext>
            </a:extLst>
          </p:cNvPr>
          <p:cNvSpPr/>
          <p:nvPr/>
        </p:nvSpPr>
        <p:spPr>
          <a:xfrm>
            <a:off x="508000" y="3112319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FD74F9-35EB-F19F-B2AF-42142ADEE0B9}"/>
              </a:ext>
            </a:extLst>
          </p:cNvPr>
          <p:cNvSpPr txBox="1"/>
          <p:nvPr/>
        </p:nvSpPr>
        <p:spPr>
          <a:xfrm>
            <a:off x="711200" y="3391719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协作目的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65EF818-8E09-949B-F6F3-4777F94233E1}"/>
              </a:ext>
            </a:extLst>
          </p:cNvPr>
          <p:cNvSpPr txBox="1"/>
          <p:nvPr/>
        </p:nvSpPr>
        <p:spPr>
          <a:xfrm>
            <a:off x="711200" y="3848919"/>
            <a:ext cx="2768600" cy="12526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zh-CN" dirty="0"/>
              <a:t>请求其他智能体的专业能力</a:t>
            </a:r>
            <a:endParaRPr lang="en-US" altLang="zh-CN" dirty="0"/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zh-CN" dirty="0"/>
              <a:t>访问其他智能体的工作区数据（如读取另一个智能体的配置或文件）</a:t>
            </a:r>
            <a:endParaRPr lang="en-US" altLang="zh-CN" dirty="0"/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zh-CN" dirty="0"/>
              <a:t>复审意见，或寻求第二意见</a:t>
            </a: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BC1176F-3107-A5BE-0848-33C84731A9C1}"/>
              </a:ext>
            </a:extLst>
          </p:cNvPr>
          <p:cNvSpPr/>
          <p:nvPr/>
        </p:nvSpPr>
        <p:spPr>
          <a:xfrm>
            <a:off x="4648200" y="3112318"/>
            <a:ext cx="3175000" cy="24272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042FFC-CD44-1A3C-9D6F-AC5ABD794F77}"/>
              </a:ext>
            </a:extLst>
          </p:cNvPr>
          <p:cNvSpPr/>
          <p:nvPr/>
        </p:nvSpPr>
        <p:spPr>
          <a:xfrm>
            <a:off x="4648200" y="3112319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0333D0-269C-A9C8-5A4D-DA0121EDAA91}"/>
              </a:ext>
            </a:extLst>
          </p:cNvPr>
          <p:cNvSpPr txBox="1"/>
          <p:nvPr/>
        </p:nvSpPr>
        <p:spPr>
          <a:xfrm>
            <a:off x="4851400" y="3391719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触发方式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B35A85-04FD-A736-44CE-E2FA2A88D580}"/>
              </a:ext>
            </a:extLst>
          </p:cNvPr>
          <p:cNvSpPr txBox="1"/>
          <p:nvPr/>
        </p:nvSpPr>
        <p:spPr>
          <a:xfrm>
            <a:off x="4851400" y="3848919"/>
            <a:ext cx="2768600" cy="8971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zh-CN" b="1" dirty="0"/>
              <a:t>用户触发</a:t>
            </a:r>
            <a:endParaRPr lang="en-US" altLang="zh-CN" b="1" dirty="0"/>
          </a:p>
          <a:p>
            <a:endParaRPr lang="en-US" altLang="zh-CN" sz="1100" b="1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zh-CN" b="1" dirty="0"/>
              <a:t>智能体主动判断</a:t>
            </a:r>
            <a:endParaRPr lang="en-US" altLang="zh-CN" b="1" dirty="0"/>
          </a:p>
          <a:p>
            <a:endParaRPr lang="en-US" altLang="zh-CN" sz="1100" b="1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zh-CN" b="1" dirty="0"/>
              <a:t>跨领域协作</a:t>
            </a:r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3EB46D-87A6-D577-29F7-7321B7D1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18400"/>
            <a:ext cx="7959344" cy="164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0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3C62-F26D-424A-8EBB-8A75CB0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E319A0D-F59E-1E27-377D-43C8D3FFEA12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9EFD8D-5041-E542-9AA2-5DD57A8A153B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10/16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68A0F6-0141-DDEA-54B5-C4C24B854B5B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Notice</a:t>
            </a:r>
            <a:endParaRPr lang="zh-CN" altLang="en-US" sz="1000" b="1" dirty="0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321F3-E054-7E20-6CBC-8E68A14CCCED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智能体创建注意事项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E726C41-9090-0133-A601-93562256A082}"/>
              </a:ext>
            </a:extLst>
          </p:cNvPr>
          <p:cNvSpPr/>
          <p:nvPr/>
        </p:nvSpPr>
        <p:spPr>
          <a:xfrm>
            <a:off x="508000" y="1429979"/>
            <a:ext cx="3175000" cy="2108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9BAEFD-C093-386A-BC28-8F4318DB69C4}"/>
              </a:ext>
            </a:extLst>
          </p:cNvPr>
          <p:cNvSpPr/>
          <p:nvPr/>
        </p:nvSpPr>
        <p:spPr>
          <a:xfrm>
            <a:off x="508000" y="1429979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8A787E8-2B5D-3510-39DF-B27348D8FFFE}"/>
              </a:ext>
            </a:extLst>
          </p:cNvPr>
          <p:cNvSpPr txBox="1"/>
          <p:nvPr/>
        </p:nvSpPr>
        <p:spPr>
          <a:xfrm>
            <a:off x="711200" y="1709379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描述范例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59B30CC-B2A8-954B-7BFD-183D863649B5}"/>
              </a:ext>
            </a:extLst>
          </p:cNvPr>
          <p:cNvSpPr txBox="1"/>
          <p:nvPr/>
        </p:nvSpPr>
        <p:spPr>
          <a:xfrm>
            <a:off x="711200" y="2166579"/>
            <a:ext cx="2768600" cy="11003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zh-CN" altLang="zh-CN" dirty="0"/>
              <a:t>专注于</a:t>
            </a:r>
            <a:r>
              <a:rPr lang="en-US" altLang="zh-CN" dirty="0"/>
              <a:t>C++</a:t>
            </a:r>
            <a:r>
              <a:rPr lang="zh-CN" altLang="zh-CN" dirty="0"/>
              <a:t>代码审查、重构和性能优化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dirty="0"/>
              <a:t>负责文档撰写、润色，</a:t>
            </a:r>
            <a:r>
              <a:rPr lang="zh-CN" altLang="en-US" dirty="0"/>
              <a:t>保证</a:t>
            </a:r>
            <a:r>
              <a:rPr lang="zh-CN" altLang="zh-CN" dirty="0"/>
              <a:t>中英双语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dirty="0"/>
              <a:t>处理财务数据分析、报表生成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70FE736-0079-32C5-7D22-199B66C95AF9}"/>
              </a:ext>
            </a:extLst>
          </p:cNvPr>
          <p:cNvSpPr/>
          <p:nvPr/>
        </p:nvSpPr>
        <p:spPr>
          <a:xfrm>
            <a:off x="4648200" y="1429979"/>
            <a:ext cx="3175000" cy="2108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153344-F615-C864-8193-456C163BA28F}"/>
              </a:ext>
            </a:extLst>
          </p:cNvPr>
          <p:cNvSpPr/>
          <p:nvPr/>
        </p:nvSpPr>
        <p:spPr>
          <a:xfrm>
            <a:off x="4648200" y="1429979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C15FE5-0A99-1FB3-31C9-56BA311EAEFB}"/>
              </a:ext>
            </a:extLst>
          </p:cNvPr>
          <p:cNvSpPr txBox="1"/>
          <p:nvPr/>
        </p:nvSpPr>
        <p:spPr>
          <a:xfrm>
            <a:off x="4851400" y="1709379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错误示例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0B3E226-D2C2-359B-BB5F-1DD2E599CA22}"/>
              </a:ext>
            </a:extLst>
          </p:cNvPr>
          <p:cNvSpPr txBox="1"/>
          <p:nvPr/>
        </p:nvSpPr>
        <p:spPr>
          <a:xfrm>
            <a:off x="4851400" y="2166579"/>
            <a:ext cx="2768600" cy="9310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altLang="zh-CN" dirty="0"/>
              <a:t>  </a:t>
            </a:r>
            <a:r>
              <a:rPr lang="zh-CN" altLang="zh-CN" dirty="0"/>
              <a:t>我的助手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en-US" altLang="zh-CN" dirty="0"/>
              <a:t>  </a:t>
            </a:r>
            <a:r>
              <a:rPr lang="zh-CN" altLang="zh-CN" dirty="0"/>
              <a:t>测试用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dirty="0"/>
              <a:t>（留空）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A5A96F-C8CA-061B-9520-C7A75033D7A5}"/>
              </a:ext>
            </a:extLst>
          </p:cNvPr>
          <p:cNvSpPr/>
          <p:nvPr/>
        </p:nvSpPr>
        <p:spPr>
          <a:xfrm>
            <a:off x="508000" y="4060686"/>
            <a:ext cx="3175000" cy="2239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43606F-7FD7-0CFF-52EE-63AA8F90FDA5}"/>
              </a:ext>
            </a:extLst>
          </p:cNvPr>
          <p:cNvSpPr/>
          <p:nvPr/>
        </p:nvSpPr>
        <p:spPr>
          <a:xfrm>
            <a:off x="508000" y="4060686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A8F7D9-4F6F-25FF-4E6D-A26D409D4B36}"/>
              </a:ext>
            </a:extLst>
          </p:cNvPr>
          <p:cNvSpPr txBox="1"/>
          <p:nvPr/>
        </p:nvSpPr>
        <p:spPr>
          <a:xfrm>
            <a:off x="711200" y="4340086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命名范例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942D9A-C77B-E521-D592-C5740B2F2D35}"/>
              </a:ext>
            </a:extLst>
          </p:cNvPr>
          <p:cNvSpPr txBox="1"/>
          <p:nvPr/>
        </p:nvSpPr>
        <p:spPr>
          <a:xfrm>
            <a:off x="711200" y="4797286"/>
            <a:ext cx="2768600" cy="13034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dirty="0"/>
              <a:t>Default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chat-assistant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code-assistant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doc-assistant</a:t>
            </a:r>
            <a:r>
              <a:rPr lang="zh-CN" altLang="en-US" dirty="0"/>
              <a:t>。</a:t>
            </a:r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DB1349-B85D-39B9-8D15-BF58B5DB0C89}"/>
              </a:ext>
            </a:extLst>
          </p:cNvPr>
          <p:cNvSpPr/>
          <p:nvPr/>
        </p:nvSpPr>
        <p:spPr>
          <a:xfrm>
            <a:off x="4648200" y="4060686"/>
            <a:ext cx="3175000" cy="21089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3DF136-BE75-4375-5F2B-2DF900EB2C93}"/>
              </a:ext>
            </a:extLst>
          </p:cNvPr>
          <p:cNvSpPr/>
          <p:nvPr/>
        </p:nvSpPr>
        <p:spPr>
          <a:xfrm>
            <a:off x="4648200" y="4060686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267552-115D-FBA8-DDF5-59BE0387BD5C}"/>
              </a:ext>
            </a:extLst>
          </p:cNvPr>
          <p:cNvSpPr txBox="1"/>
          <p:nvPr/>
        </p:nvSpPr>
        <p:spPr>
          <a:xfrm>
            <a:off x="4851400" y="4340086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定期备份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806DB7-2422-BFAC-C1AC-A80B9B99BEDF}"/>
              </a:ext>
            </a:extLst>
          </p:cNvPr>
          <p:cNvSpPr txBox="1"/>
          <p:nvPr/>
        </p:nvSpPr>
        <p:spPr>
          <a:xfrm>
            <a:off x="4851400" y="4954099"/>
            <a:ext cx="2768600" cy="5586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zh-CN" altLang="zh-CN" dirty="0"/>
              <a:t>重要智能体的工作区应当定期备份</a:t>
            </a:r>
            <a:r>
              <a:rPr lang="zh-CN" altLang="en-US" dirty="0"/>
              <a:t>：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cp -r </a:t>
            </a:r>
            <a:r>
              <a:rPr lang="zh-CN" altLang="zh-CN" dirty="0"/>
              <a:t>源目录 目标目录</a:t>
            </a:r>
          </a:p>
        </p:txBody>
      </p:sp>
    </p:spTree>
    <p:extLst>
      <p:ext uri="{BB962C8B-B14F-4D97-AF65-F5344CB8AC3E}">
        <p14:creationId xmlns:p14="http://schemas.microsoft.com/office/powerpoint/2010/main" val="339087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843DD0-29E5-80C0-3A57-E668372A6DBE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5A9BA7-305D-808C-4424-569081D0B8A7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11/16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7B3DE2-E2E7-C312-A4DE-D478DF05030F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Scheduled Tasks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DC2FAB-BA51-BC29-388E-36523F58B101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定时任务（心跳）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0FDA3C-2CEF-56B8-9DDB-1F2122508813}"/>
              </a:ext>
            </a:extLst>
          </p:cNvPr>
          <p:cNvSpPr/>
          <p:nvPr/>
        </p:nvSpPr>
        <p:spPr>
          <a:xfrm>
            <a:off x="533400" y="1600200"/>
            <a:ext cx="4254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4A0B616-6C96-0604-1183-D6F47230B1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53711"/>
            <a:ext cx="3949700" cy="20901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AA1EE3F-9F6D-AB6E-FBEA-C418B7D8552F}"/>
              </a:ext>
            </a:extLst>
          </p:cNvPr>
          <p:cNvSpPr txBox="1"/>
          <p:nvPr/>
        </p:nvSpPr>
        <p:spPr>
          <a:xfrm>
            <a:off x="711200" y="4521200"/>
            <a:ext cx="3898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设置定时任务并推送到指定频道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EABE49-AA61-921F-26A5-B85171606A88}"/>
              </a:ext>
            </a:extLst>
          </p:cNvPr>
          <p:cNvSpPr txBox="1"/>
          <p:nvPr/>
        </p:nvSpPr>
        <p:spPr>
          <a:xfrm>
            <a:off x="5334000" y="1841500"/>
            <a:ext cx="2794000" cy="28792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zh-CN" dirty="0"/>
              <a:t>定时向某</a:t>
            </a:r>
            <a:r>
              <a:rPr lang="zh-CN" altLang="zh-CN" b="1" dirty="0"/>
              <a:t>频道</a:t>
            </a:r>
            <a:r>
              <a:rPr lang="zh-CN" altLang="zh-CN" dirty="0"/>
              <a:t>发送固定文案（如每天</a:t>
            </a:r>
            <a:r>
              <a:rPr lang="en-US" altLang="zh-CN" dirty="0"/>
              <a:t>9</a:t>
            </a:r>
            <a:r>
              <a:rPr lang="zh-CN" altLang="zh-CN" dirty="0"/>
              <a:t>点发“”早上好“”）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spcAft>
                <a:spcPts val="800"/>
              </a:spcAft>
            </a:pPr>
            <a:r>
              <a:rPr lang="zh-CN" altLang="zh-CN" dirty="0"/>
              <a:t>和</a:t>
            </a:r>
            <a:r>
              <a:rPr lang="en-US" altLang="zh-CN" dirty="0"/>
              <a:t> </a:t>
            </a:r>
            <a:r>
              <a:rPr lang="en-US" altLang="zh-CN" dirty="0" err="1"/>
              <a:t>QwenPaw</a:t>
            </a:r>
            <a:r>
              <a:rPr lang="en-US" altLang="zh-CN" dirty="0"/>
              <a:t> </a:t>
            </a:r>
            <a:r>
              <a:rPr lang="zh-CN" altLang="zh-CN" dirty="0"/>
              <a:t>对话的</a:t>
            </a:r>
            <a:r>
              <a:rPr lang="zh-CN" altLang="en-US" dirty="0"/>
              <a:t>“”</a:t>
            </a:r>
            <a:r>
              <a:rPr lang="zh-CN" altLang="zh-CN" b="1" dirty="0"/>
              <a:t>场所</a:t>
            </a:r>
            <a:r>
              <a:rPr lang="zh-CN" altLang="en-US" dirty="0"/>
              <a:t>“”</a:t>
            </a:r>
            <a:r>
              <a:rPr lang="zh-CN" altLang="zh-CN" dirty="0"/>
              <a:t>（钉钉、飞书、</a:t>
            </a:r>
            <a:r>
              <a:rPr lang="en-US" altLang="zh-CN" dirty="0"/>
              <a:t>QQ</a:t>
            </a:r>
            <a:r>
              <a:rPr lang="zh-CN" altLang="zh-CN" dirty="0"/>
              <a:t>、</a:t>
            </a:r>
            <a:r>
              <a:rPr lang="en-US" altLang="zh-CN" dirty="0"/>
              <a:t>Discord</a:t>
            </a:r>
            <a:r>
              <a:rPr lang="zh-CN" altLang="zh-CN" dirty="0"/>
              <a:t>、</a:t>
            </a:r>
            <a:r>
              <a:rPr lang="en-US" altLang="zh-CN" dirty="0"/>
              <a:t>iMessage </a:t>
            </a:r>
            <a:r>
              <a:rPr lang="zh-CN" altLang="zh-CN" dirty="0"/>
              <a:t>等）即为</a:t>
            </a:r>
            <a:r>
              <a:rPr lang="zh-CN" altLang="zh-CN" b="1" dirty="0"/>
              <a:t>频道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spcAft>
                <a:spcPts val="800"/>
              </a:spcAft>
            </a:pPr>
            <a:endParaRPr lang="en-US" altLang="zh-CN" dirty="0"/>
          </a:p>
          <a:p>
            <a:pPr>
              <a:spcAft>
                <a:spcPts val="800"/>
              </a:spcAft>
            </a:pPr>
            <a:r>
              <a:rPr lang="zh-CN" altLang="zh-CN" dirty="0"/>
              <a:t>定时执行检查</a:t>
            </a:r>
            <a:r>
              <a:rPr lang="en-US" altLang="zh-CN" dirty="0"/>
              <a:t>/</a:t>
            </a:r>
            <a:r>
              <a:rPr lang="zh-CN" altLang="zh-CN" dirty="0"/>
              <a:t>摘要：将写好的一串问题问</a:t>
            </a:r>
            <a:r>
              <a:rPr lang="en-US" altLang="zh-CN" dirty="0"/>
              <a:t> </a:t>
            </a:r>
            <a:r>
              <a:rPr lang="en-US" altLang="zh-CN" dirty="0" err="1"/>
              <a:t>QwenPaw</a:t>
            </a:r>
            <a:r>
              <a:rPr lang="zh-CN" altLang="zh-CN" dirty="0"/>
              <a:t>，把回答发到上次的</a:t>
            </a:r>
            <a:r>
              <a:rPr lang="zh-CN" altLang="zh-CN" b="1" dirty="0"/>
              <a:t>对话区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spcAft>
                <a:spcPts val="800"/>
              </a:spcAft>
            </a:pPr>
            <a:r>
              <a:rPr lang="zh-CN" altLang="zh-CN" dirty="0"/>
              <a:t>写好的一</a:t>
            </a:r>
            <a:r>
              <a:rPr lang="zh-CN" altLang="en-US" dirty="0"/>
              <a:t>串</a:t>
            </a:r>
            <a:r>
              <a:rPr lang="zh-CN" altLang="zh-CN" dirty="0"/>
              <a:t>问题即为</a:t>
            </a:r>
            <a:r>
              <a:rPr lang="zh-CN" altLang="zh-CN" b="1" dirty="0"/>
              <a:t>心跳（</a:t>
            </a:r>
            <a:r>
              <a:rPr lang="en-US" altLang="zh-CN" b="1" dirty="0"/>
              <a:t>HEARTBEAT.md</a:t>
            </a:r>
            <a:r>
              <a:rPr lang="zh-CN" altLang="zh-CN" b="1" dirty="0"/>
              <a:t>）。</a:t>
            </a:r>
            <a:endParaRPr lang="zh-CN" altLang="zh-CN" dirty="0"/>
          </a:p>
          <a:p>
            <a:pPr>
              <a:spcAft>
                <a:spcPts val="800"/>
              </a:spcAft>
            </a:pPr>
            <a:endParaRPr lang="zh-CN" altLang="zh-CN" dirty="0"/>
          </a:p>
          <a:p>
            <a:pPr>
              <a:spcAft>
                <a:spcPts val="800"/>
              </a:spcAft>
            </a:pPr>
            <a:endParaRPr lang="zh-CN" altLang="en-US" sz="14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755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620D-8895-5C16-6818-711C79FF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7C2F251-DFC1-BE3A-8FE6-A0D965FE884F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A041B8-5D2D-DE9D-48B6-E8BFAAD7F124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11/16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B84DAE-83D4-657A-E84B-B2996A6DC073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Configure Channels</a:t>
            </a:r>
            <a:endParaRPr lang="zh-CN" altLang="en-US" sz="1000" b="1" dirty="0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BD4B2B-7EF1-6A0E-3A89-C3F4B132A3D2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配置频道方法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56A1B7-20AE-0CEB-AC8E-58D631EF50F6}"/>
              </a:ext>
            </a:extLst>
          </p:cNvPr>
          <p:cNvSpPr txBox="1"/>
          <p:nvPr/>
        </p:nvSpPr>
        <p:spPr>
          <a:xfrm>
            <a:off x="508000" y="1794765"/>
            <a:ext cx="5271008" cy="24499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zh-CN" altLang="zh-CN" b="1" dirty="0"/>
              <a:t>控制台</a:t>
            </a:r>
            <a:r>
              <a:rPr lang="zh-CN" altLang="zh-CN" dirty="0"/>
              <a:t>（推荐）</a:t>
            </a:r>
            <a:r>
              <a:rPr lang="zh-CN" altLang="en-US" dirty="0"/>
              <a:t>：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在</a:t>
            </a:r>
            <a:r>
              <a:rPr lang="en-US" altLang="zh-CN" b="1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控制台</a:t>
            </a:r>
            <a:r>
              <a:rPr lang="zh-CN" altLang="zh-CN" dirty="0"/>
              <a:t>的</a:t>
            </a:r>
            <a:r>
              <a:rPr lang="en-US" altLang="zh-CN" dirty="0"/>
              <a:t>Control </a:t>
            </a:r>
            <a:r>
              <a:rPr lang="en-US" altLang="zh-CN" b="1" dirty="0"/>
              <a:t>→ Channels</a:t>
            </a:r>
            <a:r>
              <a:rPr lang="en-US" altLang="zh-CN" dirty="0"/>
              <a:t> </a:t>
            </a:r>
            <a:r>
              <a:rPr lang="zh-CN" altLang="zh-CN" dirty="0"/>
              <a:t>页面，点击</a:t>
            </a:r>
            <a:r>
              <a:rPr lang="zh-CN" altLang="zh-CN" b="1" dirty="0"/>
              <a:t>频道</a:t>
            </a:r>
            <a:r>
              <a:rPr lang="zh-CN" altLang="zh-CN" dirty="0"/>
              <a:t>卡片，在抽屉里启用并填写鉴权信息，保存即生效。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b="1" dirty="0"/>
              <a:t>手动编辑</a:t>
            </a:r>
            <a:r>
              <a:rPr lang="en-US" altLang="zh-CN" b="1" dirty="0"/>
              <a:t> </a:t>
            </a:r>
            <a:r>
              <a:rPr lang="en-US" altLang="zh-CN" b="1" dirty="0" err="1"/>
              <a:t>agent.json</a:t>
            </a:r>
            <a:r>
              <a:rPr lang="en-US" altLang="zh-CN" dirty="0"/>
              <a:t> </a:t>
            </a:r>
            <a:r>
              <a:rPr lang="zh-CN" altLang="en-US" dirty="0"/>
              <a:t>：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在智能体工作区的</a:t>
            </a:r>
            <a:r>
              <a:rPr lang="en-US" altLang="zh-CN" dirty="0"/>
              <a:t> </a:t>
            </a:r>
            <a:r>
              <a:rPr lang="en-US" altLang="zh-CN" b="1" dirty="0" err="1"/>
              <a:t>agent.json</a:t>
            </a:r>
            <a:r>
              <a:rPr lang="en-US" altLang="zh-CN" b="1" dirty="0"/>
              <a:t> </a:t>
            </a:r>
            <a:r>
              <a:rPr lang="zh-CN" altLang="zh-CN" dirty="0"/>
              <a:t>中（如</a:t>
            </a:r>
            <a:r>
              <a:rPr lang="en-US" altLang="zh-CN" dirty="0"/>
              <a:t> ~/.</a:t>
            </a:r>
            <a:r>
              <a:rPr lang="en-US" altLang="zh-CN" dirty="0" err="1"/>
              <a:t>qwenpaw</a:t>
            </a:r>
            <a:r>
              <a:rPr lang="en-US" altLang="zh-CN" dirty="0"/>
              <a:t>/workspaces/default/</a:t>
            </a:r>
            <a:r>
              <a:rPr lang="en-US" altLang="zh-CN" dirty="0" err="1"/>
              <a:t>agent.json</a:t>
            </a:r>
            <a:r>
              <a:rPr lang="zh-CN" altLang="zh-CN" dirty="0"/>
              <a:t>）</a:t>
            </a:r>
            <a:r>
              <a:rPr lang="zh-CN" altLang="en-US" dirty="0"/>
              <a:t>，</a:t>
            </a:r>
            <a:r>
              <a:rPr lang="zh-CN" altLang="zh-CN" dirty="0"/>
              <a:t>将需要的频道</a:t>
            </a:r>
            <a:r>
              <a:rPr lang="zh-CN" altLang="en-US" dirty="0"/>
              <a:t>的</a:t>
            </a:r>
            <a:r>
              <a:rPr lang="en-US" altLang="zh-CN" dirty="0"/>
              <a:t>enabled</a:t>
            </a:r>
            <a:r>
              <a:rPr lang="zh-CN" altLang="en-US" dirty="0"/>
              <a:t>设为</a:t>
            </a:r>
            <a:r>
              <a:rPr lang="en-US" altLang="zh-CN" dirty="0"/>
              <a:t>true</a:t>
            </a:r>
            <a:r>
              <a:rPr lang="zh-CN" altLang="en-US" dirty="0"/>
              <a:t>，</a:t>
            </a:r>
            <a:r>
              <a:rPr lang="zh-CN" altLang="zh-CN" dirty="0"/>
              <a:t>并填好</a:t>
            </a:r>
            <a:r>
              <a:rPr lang="zh-CN" altLang="zh-CN" b="1" dirty="0"/>
              <a:t>鉴权</a:t>
            </a:r>
            <a:r>
              <a:rPr lang="zh-CN" altLang="zh-CN" dirty="0"/>
              <a:t>信息；保存后自动重载，</a:t>
            </a:r>
            <a:r>
              <a:rPr lang="zh-CN" altLang="zh-CN" b="1" dirty="0"/>
              <a:t>无需重启</a:t>
            </a:r>
            <a:r>
              <a:rPr lang="zh-CN" altLang="zh-CN" dirty="0"/>
              <a:t>。</a:t>
            </a:r>
          </a:p>
          <a:p>
            <a:pPr>
              <a:spcAft>
                <a:spcPts val="800"/>
              </a:spcAft>
            </a:pPr>
            <a:endParaRPr lang="zh-CN" altLang="en-US" sz="14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62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6CA55D8-0FF4-3618-2EBE-09DF9182B536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07E37F-5BEE-C273-B887-1F759DEDBAE9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12/16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3CB7C7-7E1F-24A9-3EE8-C139CBE8F2FA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Enterprise WeChat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693566-4537-A855-4185-8A237E9CF17C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企业微信：接入与应用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9A6A17-A649-963F-B8A6-F89D53B6C7C8}"/>
              </a:ext>
            </a:extLst>
          </p:cNvPr>
          <p:cNvSpPr/>
          <p:nvPr/>
        </p:nvSpPr>
        <p:spPr>
          <a:xfrm>
            <a:off x="5181600" y="377314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D0993C-E082-FA8B-5CCD-6CCE2B7E1FB1}"/>
              </a:ext>
            </a:extLst>
          </p:cNvPr>
          <p:cNvSpPr/>
          <p:nvPr/>
        </p:nvSpPr>
        <p:spPr>
          <a:xfrm>
            <a:off x="5181600" y="3773140"/>
            <a:ext cx="2921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4B3E14-EAE1-805E-649F-19FF2748E34C}"/>
              </a:ext>
            </a:extLst>
          </p:cNvPr>
          <p:cNvSpPr txBox="1"/>
          <p:nvPr/>
        </p:nvSpPr>
        <p:spPr>
          <a:xfrm>
            <a:off x="5384800" y="4052540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云服务器接入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900C8D-E1EC-D27C-AAAB-9FA7A6F85F47}"/>
              </a:ext>
            </a:extLst>
          </p:cNvPr>
          <p:cNvSpPr txBox="1"/>
          <p:nvPr/>
        </p:nvSpPr>
        <p:spPr>
          <a:xfrm>
            <a:off x="5384800" y="4509740"/>
            <a:ext cx="251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克隆插件、安装依赖、创建自定义频道软链接、重启 </a:t>
            </a:r>
            <a:r>
              <a:rPr lang="en-US" altLang="zh-CN" sz="11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FED0ACF-CB58-9341-27AC-B9BA4452E1B9}"/>
              </a:ext>
            </a:extLst>
          </p:cNvPr>
          <p:cNvSpPr/>
          <p:nvPr/>
        </p:nvSpPr>
        <p:spPr>
          <a:xfrm>
            <a:off x="5181600" y="189249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7B5ABA-80EC-213C-0012-46CDE20320E2}"/>
              </a:ext>
            </a:extLst>
          </p:cNvPr>
          <p:cNvSpPr/>
          <p:nvPr/>
        </p:nvSpPr>
        <p:spPr>
          <a:xfrm>
            <a:off x="5181600" y="1892490"/>
            <a:ext cx="2921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3E2BB3-99B1-F85E-3EAB-8C8F23DF9071}"/>
              </a:ext>
            </a:extLst>
          </p:cNvPr>
          <p:cNvSpPr txBox="1"/>
          <p:nvPr/>
        </p:nvSpPr>
        <p:spPr>
          <a:xfrm>
            <a:off x="5384800" y="2171890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</a:t>
            </a:r>
            <a:r>
              <a:rPr lang="en-US" altLang="zh-CN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接入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151AFF-24B9-A6A3-4234-76FB6C3D4A03}"/>
              </a:ext>
            </a:extLst>
          </p:cNvPr>
          <p:cNvSpPr txBox="1"/>
          <p:nvPr/>
        </p:nvSpPr>
        <p:spPr>
          <a:xfrm>
            <a:off x="5384800" y="2629090"/>
            <a:ext cx="2514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在如图的频道列表中，启用企业微信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62298A-6CD8-5A17-0C80-6DE630A1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92300"/>
            <a:ext cx="4080814" cy="24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7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8AA308-29F9-88CC-027F-B4AE2541D4C8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3DF8F9-A65F-C042-73FF-E115DBE245E1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13/16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18050D-3B7C-3C56-772E-C941FA842A3F}"/>
              </a:ext>
            </a:extLst>
          </p:cNvPr>
          <p:cNvSpPr txBox="1"/>
          <p:nvPr/>
        </p:nvSpPr>
        <p:spPr>
          <a:xfrm>
            <a:off x="508000" y="4318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Security System</a:t>
            </a:r>
            <a:endParaRPr lang="zh-CN" altLang="en-US" sz="1000" b="1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1189FF-3416-B7B9-0C45-E4ECAE6A2ABB}"/>
              </a:ext>
            </a:extLst>
          </p:cNvPr>
          <p:cNvSpPr txBox="1"/>
          <p:nvPr/>
        </p:nvSpPr>
        <p:spPr>
          <a:xfrm>
            <a:off x="5080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三、</a:t>
            </a:r>
            <a:r>
              <a:rPr lang="en-US" altLang="zh-CN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2800" b="1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安全系统：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DE1847-B91C-ABF3-CD46-4B0234544ACD}"/>
              </a:ext>
            </a:extLst>
          </p:cNvPr>
          <p:cNvSpPr txBox="1"/>
          <p:nvPr/>
        </p:nvSpPr>
        <p:spPr>
          <a:xfrm>
            <a:off x="736600" y="1600200"/>
            <a:ext cx="5801360" cy="3072384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1.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魔法命令 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—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使用特殊命令快速控制对话状态（如 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/new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开启新对话、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/clear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清空历史、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/stop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停止任务、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/restart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重启服务等），无需等待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理解。</a:t>
            </a:r>
          </a:p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2.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安全架构：可自定义规则</a:t>
            </a:r>
            <a:endParaRPr lang="en-US" altLang="zh-CN" sz="14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14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）工具守卫 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(Tool Guard)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：运行时工具调用检测</a:t>
            </a:r>
          </a:p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）文件防护 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(File Guard)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：敏感文件访问控制</a:t>
            </a:r>
          </a:p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）技能扫描器 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(Skill Scanner)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：技能安全预检</a:t>
            </a:r>
          </a:p>
          <a:p>
            <a:pPr>
              <a:spcAft>
                <a:spcPts val="800"/>
              </a:spcAft>
            </a:pP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Web 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登录认证 ：若使用桌面</a:t>
            </a:r>
            <a:r>
              <a:rPr lang="en-US" altLang="zh-CN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14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安装包，则没有这个认证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60AC27-E514-78ED-FCE2-66A27870B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2" y="4578290"/>
            <a:ext cx="439163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02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C75BE3-BA68-1640-5262-E106A161099D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CB8A07-BB79-A404-12A2-616619BC16FB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14/16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3AD8B-EABF-59FF-1C3B-2C48A077709F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四、缺陷和不足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054DA03-516B-1F7E-845D-4D8FA5F257AE}"/>
              </a:ext>
            </a:extLst>
          </p:cNvPr>
          <p:cNvSpPr/>
          <p:nvPr/>
        </p:nvSpPr>
        <p:spPr>
          <a:xfrm>
            <a:off x="425704" y="1640506"/>
            <a:ext cx="3175000" cy="34161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F05C2A-CD60-2546-FA1F-4636AEC7CF09}"/>
              </a:ext>
            </a:extLst>
          </p:cNvPr>
          <p:cNvSpPr/>
          <p:nvPr/>
        </p:nvSpPr>
        <p:spPr>
          <a:xfrm>
            <a:off x="425704" y="1640506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3B80C5-3698-6E55-B969-C01983C371F9}"/>
              </a:ext>
            </a:extLst>
          </p:cNvPr>
          <p:cNvSpPr txBox="1"/>
          <p:nvPr/>
        </p:nvSpPr>
        <p:spPr>
          <a:xfrm>
            <a:off x="628904" y="2330567"/>
            <a:ext cx="2768600" cy="27084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只能使用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Playwright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爬取网页，效率低。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并且，搜索结束后的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shell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进程不能被正常回收，导致本地主机或服务器的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CPU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被异常占用，如图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不论是桌面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，还是阿里云服务器接入，回复都可能突然卡住或中断，且没有任何错误提示，如图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APP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手动中止消息后，继续对话，回复内容和当前对话脱节或中止，如图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阿里云服务器接入下，不能手动中止消息。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19D908-63AA-170A-4FD5-38E3B416E88D}"/>
              </a:ext>
            </a:extLst>
          </p:cNvPr>
          <p:cNvSpPr txBox="1"/>
          <p:nvPr/>
        </p:nvSpPr>
        <p:spPr>
          <a:xfrm>
            <a:off x="616204" y="1882719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缺陷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E1212A-09CF-F286-D53F-25440909CA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461"/>
          <a:stretch>
            <a:fillRect/>
          </a:stretch>
        </p:blipFill>
        <p:spPr bwMode="auto">
          <a:xfrm>
            <a:off x="4348861" y="396100"/>
            <a:ext cx="3846022" cy="14866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4043E7-416F-0FF8-2BE5-15B141035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869"/>
          <a:stretch>
            <a:fillRect/>
          </a:stretch>
        </p:blipFill>
        <p:spPr bwMode="auto">
          <a:xfrm>
            <a:off x="4348861" y="2223219"/>
            <a:ext cx="4100195" cy="17919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D1C23D-BC2D-C0DC-A2EE-CBD8E3EF02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077"/>
          <a:stretch>
            <a:fillRect/>
          </a:stretch>
        </p:blipFill>
        <p:spPr bwMode="auto">
          <a:xfrm>
            <a:off x="4158869" y="4211008"/>
            <a:ext cx="4356227" cy="17197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53BD8BE-D7C0-6A89-043A-1D2314362E0F}"/>
              </a:ext>
            </a:extLst>
          </p:cNvPr>
          <p:cNvSpPr txBox="1"/>
          <p:nvPr/>
        </p:nvSpPr>
        <p:spPr>
          <a:xfrm>
            <a:off x="5014658" y="1934433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图</a:t>
            </a:r>
            <a:r>
              <a:rPr lang="en-US" altLang="zh-CN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  <a:endParaRPr lang="zh-CN" altLang="en-US" sz="10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050707-F36D-3165-9BAC-378EE9196A7E}"/>
              </a:ext>
            </a:extLst>
          </p:cNvPr>
          <p:cNvSpPr txBox="1"/>
          <p:nvPr/>
        </p:nvSpPr>
        <p:spPr>
          <a:xfrm>
            <a:off x="4952682" y="4024508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图</a:t>
            </a:r>
            <a:r>
              <a:rPr lang="en-US" altLang="zh-CN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  <a:endParaRPr lang="zh-CN" altLang="en-US" sz="10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A832CC-9C93-8D48-6B9C-312A9A6A10C3}"/>
              </a:ext>
            </a:extLst>
          </p:cNvPr>
          <p:cNvSpPr txBox="1"/>
          <p:nvPr/>
        </p:nvSpPr>
        <p:spPr>
          <a:xfrm>
            <a:off x="5014658" y="5958216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图</a:t>
            </a:r>
            <a:r>
              <a:rPr lang="en-US" altLang="zh-CN" sz="1000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  <a:endParaRPr lang="zh-CN" altLang="en-US" sz="1000" dirty="0">
              <a:solidFill>
                <a:srgbClr val="1F2B2E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A759E9B-CAD2-E0A6-5B33-F084791A2A00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Defects and Limits</a:t>
            </a:r>
            <a:endParaRPr lang="zh-CN" altLang="en-US" sz="1000" b="1" dirty="0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5966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FE90-B21F-7B6B-DA6A-E2640434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158C5B9-0BD2-D7D7-DD7B-942B3DA2CEDB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601DE7-D78E-48F3-0DFD-9B9135FAEC90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14/16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4C7D2-9EB7-7C5F-A5FA-8864AEAF07AB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Defects and Limits</a:t>
            </a:r>
            <a:endParaRPr lang="zh-CN" altLang="en-US" sz="1000" b="1" dirty="0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E2D914-4CC8-349B-E821-0ADDDF1904D4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四、缺陷和不足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7E75E55-20B2-0AD9-E1C1-1CF1759A7005}"/>
              </a:ext>
            </a:extLst>
          </p:cNvPr>
          <p:cNvSpPr/>
          <p:nvPr/>
        </p:nvSpPr>
        <p:spPr>
          <a:xfrm>
            <a:off x="2886456" y="2192528"/>
            <a:ext cx="3175000" cy="228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F85878-A722-064F-6AA3-3FB099BFA425}"/>
              </a:ext>
            </a:extLst>
          </p:cNvPr>
          <p:cNvSpPr/>
          <p:nvPr/>
        </p:nvSpPr>
        <p:spPr>
          <a:xfrm>
            <a:off x="2886456" y="2192528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A09570-45AC-C217-DE4C-5E384C854D7D}"/>
              </a:ext>
            </a:extLst>
          </p:cNvPr>
          <p:cNvSpPr txBox="1"/>
          <p:nvPr/>
        </p:nvSpPr>
        <p:spPr>
          <a:xfrm>
            <a:off x="3089656" y="2471928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不足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2B862D-EA02-361F-DE19-F4D232B1F4F3}"/>
              </a:ext>
            </a:extLst>
          </p:cNvPr>
          <p:cNvSpPr txBox="1"/>
          <p:nvPr/>
        </p:nvSpPr>
        <p:spPr>
          <a:xfrm>
            <a:off x="3089656" y="2929128"/>
            <a:ext cx="27686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技能池（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Skills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）、工具的供应高度绑定“阿里系”。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2.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不能接入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Microsoft Teams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，不能完全覆盖基恩士的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IM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3. 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企业级审计日志不完善。</a:t>
            </a: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525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9507-5C28-8DB6-5B78-35F79977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7318D76-C09E-A0EA-5FC8-6816F0D4AB8F}"/>
              </a:ext>
            </a:extLst>
          </p:cNvPr>
          <p:cNvSpPr/>
          <p:nvPr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2C0002-4A9F-9D65-2A9E-93D31EEFB771}"/>
              </a:ext>
            </a:extLst>
          </p:cNvPr>
          <p:cNvSpPr txBox="1"/>
          <p:nvPr/>
        </p:nvSpPr>
        <p:spPr>
          <a:xfrm>
            <a:off x="7620000" y="6477000"/>
            <a:ext cx="127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 | 14/16</a:t>
            </a:r>
            <a:endParaRPr lang="zh-CN" altLang="en-US" sz="80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133BA4-6E82-BAD4-8D1F-54071AA9EC63}"/>
              </a:ext>
            </a:extLst>
          </p:cNvPr>
          <p:cNvSpPr txBox="1"/>
          <p:nvPr/>
        </p:nvSpPr>
        <p:spPr>
          <a:xfrm>
            <a:off x="508000" y="431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 dirty="0">
                <a:solidFill>
                  <a:srgbClr val="008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Potential Risks</a:t>
            </a:r>
            <a:endParaRPr lang="zh-CN" altLang="en-US" sz="1000" b="1" dirty="0">
              <a:solidFill>
                <a:srgbClr val="008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3C6253-DDDE-826C-9DDD-753C5354957C}"/>
              </a:ext>
            </a:extLst>
          </p:cNvPr>
          <p:cNvSpPr txBox="1"/>
          <p:nvPr/>
        </p:nvSpPr>
        <p:spPr>
          <a:xfrm>
            <a:off x="508000" y="736600"/>
            <a:ext cx="787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五、潜在风险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2658824-E801-8C2D-220D-1E94FD790D18}"/>
              </a:ext>
            </a:extLst>
          </p:cNvPr>
          <p:cNvSpPr/>
          <p:nvPr/>
        </p:nvSpPr>
        <p:spPr>
          <a:xfrm>
            <a:off x="508000" y="1916684"/>
            <a:ext cx="3175000" cy="18597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4A563B-69EF-8CF8-599E-7A95DEAF18A9}"/>
              </a:ext>
            </a:extLst>
          </p:cNvPr>
          <p:cNvSpPr/>
          <p:nvPr/>
        </p:nvSpPr>
        <p:spPr>
          <a:xfrm>
            <a:off x="508000" y="1916684"/>
            <a:ext cx="3175000" cy="88900"/>
          </a:xfrm>
          <a:prstGeom prst="rect">
            <a:avLst/>
          </a:prstGeom>
          <a:solidFill>
            <a:srgbClr val="008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7B377A-BBDE-CC19-27C3-5F3D0E01F3EB}"/>
              </a:ext>
            </a:extLst>
          </p:cNvPr>
          <p:cNvSpPr txBox="1"/>
          <p:nvPr/>
        </p:nvSpPr>
        <p:spPr>
          <a:xfrm>
            <a:off x="711200" y="2196084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信息丢失、泄露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1B08F8-3CC6-6BF8-DF92-6F910383F2C4}"/>
              </a:ext>
            </a:extLst>
          </p:cNvPr>
          <p:cNvSpPr txBox="1"/>
          <p:nvPr/>
        </p:nvSpPr>
        <p:spPr>
          <a:xfrm>
            <a:off x="711200" y="2653284"/>
            <a:ext cx="276860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buAutoNum type="arabicPeriod"/>
            </a:pPr>
            <a:r>
              <a:rPr lang="zh-CN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早期版本（如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 v0.0.3</a:t>
            </a:r>
            <a:r>
              <a:rPr lang="zh-CN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）在升级或重建容器后，模型配置信息会丢失。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r>
              <a:rPr lang="en-US" altLang="zh-CN" sz="11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有访问和修改系统文件的权力，可能误删系统文件或泄露敏感数据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0F7C8ED-65E7-1A5E-AE6E-78AFA96AD144}"/>
              </a:ext>
            </a:extLst>
          </p:cNvPr>
          <p:cNvSpPr/>
          <p:nvPr/>
        </p:nvSpPr>
        <p:spPr>
          <a:xfrm>
            <a:off x="4897120" y="1953871"/>
            <a:ext cx="3175000" cy="18226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DD9F56-2A9C-8587-B639-2C527EAD5CD1}"/>
              </a:ext>
            </a:extLst>
          </p:cNvPr>
          <p:cNvSpPr/>
          <p:nvPr/>
        </p:nvSpPr>
        <p:spPr>
          <a:xfrm>
            <a:off x="4897120" y="1953871"/>
            <a:ext cx="3175000" cy="88900"/>
          </a:xfrm>
          <a:prstGeom prst="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EF405F-1B70-1126-F400-96DF5E3F070B}"/>
              </a:ext>
            </a:extLst>
          </p:cNvPr>
          <p:cNvSpPr txBox="1"/>
          <p:nvPr/>
        </p:nvSpPr>
        <p:spPr>
          <a:xfrm>
            <a:off x="5100320" y="2643932"/>
            <a:ext cx="27686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若</a:t>
            </a:r>
            <a:r>
              <a:rPr lang="zh-CN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将服务端口直接暴露于公网，且缺乏身份验证，黑客可控制</a:t>
            </a:r>
            <a:r>
              <a:rPr lang="en-US" altLang="zh-CN" sz="11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13A1E8-0CA7-E48B-2E10-9ED5415D88FB}"/>
              </a:ext>
            </a:extLst>
          </p:cNvPr>
          <p:cNvSpPr txBox="1"/>
          <p:nvPr/>
        </p:nvSpPr>
        <p:spPr>
          <a:xfrm>
            <a:off x="5087620" y="2196084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公网暴露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BFAA3B-B547-4577-ED7A-185D991ED13F}"/>
              </a:ext>
            </a:extLst>
          </p:cNvPr>
          <p:cNvSpPr/>
          <p:nvPr/>
        </p:nvSpPr>
        <p:spPr>
          <a:xfrm>
            <a:off x="2780792" y="4261612"/>
            <a:ext cx="3175000" cy="21645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9BAA34-D9A2-6D27-0DD7-D881BF1A0707}"/>
              </a:ext>
            </a:extLst>
          </p:cNvPr>
          <p:cNvSpPr/>
          <p:nvPr/>
        </p:nvSpPr>
        <p:spPr>
          <a:xfrm>
            <a:off x="2780792" y="4261612"/>
            <a:ext cx="3175000" cy="8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1EF49E-19AE-6F7A-38D0-A0FAB1B5DF93}"/>
              </a:ext>
            </a:extLst>
          </p:cNvPr>
          <p:cNvSpPr txBox="1"/>
          <p:nvPr/>
        </p:nvSpPr>
        <p:spPr>
          <a:xfrm>
            <a:off x="2983992" y="4541012"/>
            <a:ext cx="276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rgbClr val="1F2B2E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应对措施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4F85FE-2722-75DC-D301-5F63376A755F}"/>
              </a:ext>
            </a:extLst>
          </p:cNvPr>
          <p:cNvSpPr txBox="1"/>
          <p:nvPr/>
        </p:nvSpPr>
        <p:spPr>
          <a:xfrm>
            <a:off x="2983992" y="4998212"/>
            <a:ext cx="2768600" cy="18620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28600" indent="-228600">
              <a:buAutoNum type="arabicPeriod"/>
            </a:pP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定期</a:t>
            </a:r>
            <a:r>
              <a:rPr lang="zh-CN" altLang="en-US" sz="1100" b="1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手动备份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关键文件。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开启文件守卫（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File Guard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），限制</a:t>
            </a:r>
            <a:r>
              <a:rPr lang="en-US" altLang="zh-CN" sz="11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CoPaw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</a:t>
            </a:r>
            <a:r>
              <a:rPr lang="zh-CN" altLang="en-US" sz="1100" b="1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敏感目录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（如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en-US" altLang="zh-CN" sz="1100" dirty="0" err="1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etc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）的访问权限。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当访问</a:t>
            </a:r>
            <a:r>
              <a:rPr lang="en-US" altLang="zh-CN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API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接口时，通过</a:t>
            </a:r>
            <a:r>
              <a:rPr lang="en-US" altLang="zh-CN" sz="1100" b="1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VPN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或配置了身份验证的</a:t>
            </a:r>
            <a:r>
              <a:rPr lang="zh-CN" altLang="en-US" sz="1100" b="1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反向代理</a:t>
            </a:r>
            <a:r>
              <a:rPr lang="zh-CN" altLang="en-US" sz="1100" dirty="0">
                <a:solidFill>
                  <a:srgbClr val="59676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进行。</a:t>
            </a: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pPr marL="228600" indent="-228600">
              <a:buAutoNum type="arabicPeriod"/>
            </a:pPr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en-US" altLang="zh-CN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  <a:p>
            <a:endParaRPr lang="zh-CN" altLang="en-US" sz="1100" dirty="0">
              <a:solidFill>
                <a:srgbClr val="59676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444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1256</Words>
  <Application>Microsoft Office PowerPoint</Application>
  <PresentationFormat>全屏显示(4:3)</PresentationFormat>
  <Paragraphs>195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Liu</dc:creator>
  <cp:lastModifiedBy>Victor Liu</cp:lastModifiedBy>
  <cp:revision>365</cp:revision>
  <dcterms:created xsi:type="dcterms:W3CDTF">2026-05-12T09:54:17Z</dcterms:created>
  <dcterms:modified xsi:type="dcterms:W3CDTF">2026-05-13T08:22:10Z</dcterms:modified>
</cp:coreProperties>
</file>